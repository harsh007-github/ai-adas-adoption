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Figtree"/>
      <p:regular r:id="rId14"/>
      <p:bold r:id="rId15"/>
      <p:italic r:id="rId16"/>
      <p:boldItalic r:id="rId17"/>
    </p:embeddedFont>
    <p:embeddedFont>
      <p:font typeface="Figtree ExtraBold"/>
      <p:bold r:id="rId18"/>
      <p:boldItalic r:id="rId19"/>
    </p:embeddedFont>
    <p:embeddedFont>
      <p:font typeface="Figtree Light"/>
      <p:regular r:id="rId20"/>
      <p:bold r:id="rId21"/>
      <p:italic r:id="rId22"/>
      <p:boldItalic r:id="rId23"/>
    </p:embeddedFont>
    <p:embeddedFont>
      <p:font typeface="Figtree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gtreeLight-regular.fntdata"/><Relationship Id="rId22" Type="http://schemas.openxmlformats.org/officeDocument/2006/relationships/font" Target="fonts/FigtreeLight-italic.fntdata"/><Relationship Id="rId21" Type="http://schemas.openxmlformats.org/officeDocument/2006/relationships/font" Target="fonts/FigtreeLight-bold.fntdata"/><Relationship Id="rId24" Type="http://schemas.openxmlformats.org/officeDocument/2006/relationships/font" Target="fonts/FigtreeSemiBold-regular.fntdata"/><Relationship Id="rId23" Type="http://schemas.openxmlformats.org/officeDocument/2006/relationships/font" Target="fonts/Figtree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SemiBold-italic.fntdata"/><Relationship Id="rId25" Type="http://schemas.openxmlformats.org/officeDocument/2006/relationships/font" Target="fonts/FigtreeSemiBold-bold.fntdata"/><Relationship Id="rId27" Type="http://schemas.openxmlformats.org/officeDocument/2006/relationships/font" Target="fonts/Figtree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Figtree-bold.fntdata"/><Relationship Id="rId14" Type="http://schemas.openxmlformats.org/officeDocument/2006/relationships/font" Target="fonts/Figtree-regular.fntdata"/><Relationship Id="rId17" Type="http://schemas.openxmlformats.org/officeDocument/2006/relationships/font" Target="fonts/Figtree-boldItalic.fntdata"/><Relationship Id="rId16" Type="http://schemas.openxmlformats.org/officeDocument/2006/relationships/font" Target="fonts/Figtree-italic.fntdata"/><Relationship Id="rId19" Type="http://schemas.openxmlformats.org/officeDocument/2006/relationships/font" Target="fonts/FigtreeExtraBold-boldItalic.fntdata"/><Relationship Id="rId18" Type="http://schemas.openxmlformats.org/officeDocument/2006/relationships/font" Target="fonts/Figtree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cb2679fb6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ecb2679fb6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cb2679fb6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ecb2679fb6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cb2679fb6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ecb2679fb6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cb2679fb6_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ecb2679fb6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cb2679fb6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ecb2679fb6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cb2679fb6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ecb2679fb6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cb2679fb6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ecb2679fb6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cb2679fb6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ecb2679fb6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93C47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1.jpg"/><Relationship Id="rId7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0" y="-476250"/>
            <a:ext cx="9525000" cy="5619750"/>
            <a:chOff x="0" y="-476250"/>
            <a:chExt cx="9525000" cy="5619750"/>
          </a:xfrm>
        </p:grpSpPr>
        <p:pic>
          <p:nvPicPr>
            <p:cNvPr id="55" name="Google Shape;55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3429000"/>
              <a:ext cx="9144000" cy="171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13"/>
            <p:cNvSpPr/>
            <p:nvPr/>
          </p:nvSpPr>
          <p:spPr>
            <a:xfrm>
              <a:off x="6667500" y="-476250"/>
              <a:ext cx="2857500" cy="2857500"/>
            </a:xfrm>
            <a:prstGeom prst="ellipse">
              <a:avLst/>
            </a:prstGeom>
            <a:solidFill>
              <a:srgbClr val="93C47D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81000" y="2571750"/>
              <a:ext cx="1143000" cy="38100"/>
            </a:xfrm>
            <a:prstGeom prst="roundRect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3"/>
          <p:cNvSpPr txBox="1"/>
          <p:nvPr/>
        </p:nvSpPr>
        <p:spPr>
          <a:xfrm>
            <a:off x="381000" y="571500"/>
            <a:ext cx="8382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5600">
                <a:solidFill>
                  <a:srgbClr val="FFFFFF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ET AutoTech</a:t>
            </a:r>
            <a:endParaRPr b="0" sz="5600">
              <a:solidFill>
                <a:srgbClr val="FFFFFF"/>
              </a:solidFill>
              <a:latin typeface="Figtree ExtraBold"/>
              <a:ea typeface="Figtree ExtraBold"/>
              <a:cs typeface="Figtree ExtraBold"/>
              <a:sym typeface="Figtree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5600">
                <a:solidFill>
                  <a:srgbClr val="93C47D"/>
                </a:solidFill>
                <a:latin typeface="Figtree Light"/>
                <a:ea typeface="Figtree Light"/>
                <a:cs typeface="Figtree Light"/>
                <a:sym typeface="Figtree Light"/>
              </a:rPr>
              <a:t>Hackathon 2026</a:t>
            </a:r>
            <a:endParaRPr b="0" sz="5600">
              <a:solidFill>
                <a:srgbClr val="93C47D"/>
              </a:solidFill>
              <a:latin typeface="Figtree Light"/>
              <a:ea typeface="Figtree Light"/>
              <a:cs typeface="Figtree Light"/>
              <a:sym typeface="Figtree Light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81000" y="2762250"/>
            <a:ext cx="52389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>
                <a:solidFill>
                  <a:srgbClr val="FFFFFF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AI for ADAS Adoption in India</a:t>
            </a:r>
            <a:endParaRPr b="0" sz="2400">
              <a:solidFill>
                <a:srgbClr val="FFFFFF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E0E0E0"/>
                </a:solidFill>
                <a:latin typeface="Figtree"/>
                <a:ea typeface="Figtree"/>
                <a:cs typeface="Figtree"/>
                <a:sym typeface="Figtree"/>
              </a:rPr>
              <a:t>Team Nivāra</a:t>
            </a:r>
            <a:endParaRPr b="0" sz="1600">
              <a:solidFill>
                <a:srgbClr val="E0E0E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en-GB" sz="1600">
                <a:solidFill>
                  <a:srgbClr val="E0E0E0"/>
                </a:solidFill>
                <a:latin typeface="Figtree"/>
                <a:ea typeface="Figtree"/>
                <a:cs typeface="Figtree"/>
                <a:sym typeface="Figtree"/>
              </a:rPr>
              <a:t>Harsh Khandelwal</a:t>
            </a:r>
            <a:endParaRPr b="0" sz="1600">
              <a:solidFill>
                <a:srgbClr val="E0E0E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grpSp>
        <p:nvGrpSpPr>
          <p:cNvPr id="61" name="Google Shape;61;p13"/>
          <p:cNvGrpSpPr/>
          <p:nvPr/>
        </p:nvGrpSpPr>
        <p:grpSpPr>
          <a:xfrm>
            <a:off x="5657850" y="1466850"/>
            <a:ext cx="3162300" cy="3162300"/>
            <a:chOff x="5657850" y="1466850"/>
            <a:chExt cx="3162300" cy="3162300"/>
          </a:xfrm>
        </p:grpSpPr>
        <p:pic>
          <p:nvPicPr>
            <p:cNvPr descr="A high-tech, futuristic visualization of AI-driven automotive safety systems with glowing digital interfaces and neural network patterns, set against a dark, professional background." id="62" name="Google Shape;62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15000" y="1524000"/>
              <a:ext cx="3048000" cy="30480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63" name="Google Shape;63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657850" y="1466850"/>
              <a:ext cx="3162300" cy="3162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4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69" name="Google Shape;69;p14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2D2F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FFFFFF"/>
                  </a:solidFill>
                  <a:latin typeface="Figtree ExtraBold"/>
                  <a:ea typeface="Figtree ExtraBold"/>
                  <a:cs typeface="Figtree ExtraBold"/>
                  <a:sym typeface="Figtree ExtraBold"/>
                </a:rPr>
                <a:t>Project Nivāra: Brief Summary &amp; Proposed Solution</a:t>
              </a:r>
              <a:endParaRPr b="0" sz="2400">
                <a:solidFill>
                  <a:srgbClr val="FFFFFF"/>
                </a:solidFill>
                <a:latin typeface="Figtree ExtraBold"/>
                <a:ea typeface="Figtree ExtraBold"/>
                <a:cs typeface="Figtree ExtraBold"/>
                <a:sym typeface="Figtree ExtraBold"/>
              </a:endParaRPr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381000" y="952500"/>
            <a:ext cx="4095900" cy="1905000"/>
            <a:chOff x="381000" y="952500"/>
            <a:chExt cx="4095900" cy="1905000"/>
          </a:xfrm>
        </p:grpSpPr>
        <p:sp>
          <p:nvSpPr>
            <p:cNvPr id="72" name="Google Shape;72;p14"/>
            <p:cNvSpPr/>
            <p:nvPr/>
          </p:nvSpPr>
          <p:spPr>
            <a:xfrm>
              <a:off x="381000" y="952500"/>
              <a:ext cx="4095900" cy="1905000"/>
            </a:xfrm>
            <a:prstGeom prst="roundRect">
              <a:avLst>
                <a:gd fmla="val 6000" name="adj"/>
              </a:avLst>
            </a:prstGeom>
            <a:solidFill>
              <a:srgbClr val="2D2F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571500" y="1095375"/>
              <a:ext cx="3714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E57373"/>
                  </a:solidFill>
                  <a:latin typeface="Figtree"/>
                  <a:ea typeface="Figtree"/>
                  <a:cs typeface="Figtree"/>
                  <a:sym typeface="Figtree"/>
                </a:rPr>
                <a:t>THE PROBLEM: ALERT FATIGUE</a:t>
              </a:r>
              <a:endParaRPr b="1" sz="1400">
                <a:solidFill>
                  <a:srgbClr val="E57373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CFD8DC"/>
                  </a:solidFill>
                  <a:latin typeface="Figtree"/>
                  <a:ea typeface="Figtree"/>
                  <a:cs typeface="Figtree"/>
                  <a:sym typeface="Figtree"/>
                </a:rPr>
                <a:t>Western-calibrated ADAS systems trigger constant panic beeps in Indian traffic (two-wheelers, proximity driving), leading drivers to permanently disable life-saving features like AEB and LKA.</a:t>
              </a:r>
              <a:endParaRPr b="0" sz="1100">
                <a:solidFill>
                  <a:srgbClr val="CFD8DC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grpSp>
        <p:nvGrpSpPr>
          <p:cNvPr id="74" name="Google Shape;74;p14"/>
          <p:cNvGrpSpPr/>
          <p:nvPr/>
        </p:nvGrpSpPr>
        <p:grpSpPr>
          <a:xfrm>
            <a:off x="4667250" y="952500"/>
            <a:ext cx="4095900" cy="1905000"/>
            <a:chOff x="4667250" y="952500"/>
            <a:chExt cx="4095900" cy="1905000"/>
          </a:xfrm>
        </p:grpSpPr>
        <p:sp>
          <p:nvSpPr>
            <p:cNvPr id="75" name="Google Shape;75;p14"/>
            <p:cNvSpPr/>
            <p:nvPr/>
          </p:nvSpPr>
          <p:spPr>
            <a:xfrm>
              <a:off x="4667250" y="952500"/>
              <a:ext cx="4095900" cy="1905000"/>
            </a:xfrm>
            <a:prstGeom prst="roundRect">
              <a:avLst>
                <a:gd fmla="val 6000" name="adj"/>
              </a:avLst>
            </a:prstGeom>
            <a:solidFill>
              <a:srgbClr val="37474F"/>
            </a:solidFill>
            <a:ln cap="flat" cmpd="sng" w="19050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4857750" y="1095375"/>
              <a:ext cx="3714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93C47D"/>
                  </a:solidFill>
                  <a:latin typeface="Figtree"/>
                  <a:ea typeface="Figtree"/>
                  <a:cs typeface="Figtree"/>
                  <a:sym typeface="Figtree"/>
                </a:rPr>
                <a:t>THE SOLUTION: PROJECT NIVĀRA</a:t>
              </a:r>
              <a:endParaRPr b="1" sz="1400">
                <a:solidFill>
                  <a:srgbClr val="93C47D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CFD8DC"/>
                  </a:solidFill>
                  <a:latin typeface="Figtree"/>
                  <a:ea typeface="Figtree"/>
                  <a:cs typeface="Figtree"/>
                  <a:sym typeface="Figtree"/>
                </a:rPr>
                <a:t>A software-only middleware using Edge AI to learn driver baselines and local traffic context. It replaces binary panic beeps with a calm, 3-tier ambient visual and haptic language.</a:t>
              </a:r>
              <a:endParaRPr b="0" sz="1100">
                <a:solidFill>
                  <a:srgbClr val="CFD8DC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grpSp>
        <p:nvGrpSpPr>
          <p:cNvPr id="77" name="Google Shape;77;p14"/>
          <p:cNvGrpSpPr/>
          <p:nvPr/>
        </p:nvGrpSpPr>
        <p:grpSpPr>
          <a:xfrm>
            <a:off x="381000" y="3048000"/>
            <a:ext cx="8382000" cy="1333500"/>
            <a:chOff x="381000" y="3048000"/>
            <a:chExt cx="8382000" cy="1333500"/>
          </a:xfrm>
        </p:grpSpPr>
        <p:sp>
          <p:nvSpPr>
            <p:cNvPr id="78" name="Google Shape;78;p14"/>
            <p:cNvSpPr/>
            <p:nvPr/>
          </p:nvSpPr>
          <p:spPr>
            <a:xfrm>
              <a:off x="381000" y="3048000"/>
              <a:ext cx="8382000" cy="1333500"/>
            </a:xfrm>
            <a:prstGeom prst="roundRect">
              <a:avLst>
                <a:gd fmla="val 8571" name="adj"/>
              </a:avLst>
            </a:prstGeom>
            <a:solidFill>
              <a:srgbClr val="2632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 txBox="1"/>
            <p:nvPr/>
          </p:nvSpPr>
          <p:spPr>
            <a:xfrm>
              <a:off x="571500" y="3190875"/>
              <a:ext cx="8001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81C784"/>
                  </a:solidFill>
                  <a:latin typeface="Figtree"/>
                  <a:ea typeface="Figtree"/>
                  <a:cs typeface="Figtree"/>
                  <a:sym typeface="Figtree"/>
                </a:rPr>
                <a:t>Innovation Status: Revolutionary Improvement</a:t>
              </a:r>
              <a:endParaRPr b="1" sz="1600">
                <a:solidFill>
                  <a:srgbClr val="81C784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Nivāra fixes the broken Human-Machine Interface (HMI) without expensive new hardware. It acts as an intelligent silencer, ensuring alerts only trigger when they truly matter.</a:t>
              </a:r>
              <a:endParaRPr b="0" sz="12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grpSp>
        <p:nvGrpSpPr>
          <p:cNvPr id="80" name="Google Shape;80;p14"/>
          <p:cNvGrpSpPr/>
          <p:nvPr/>
        </p:nvGrpSpPr>
        <p:grpSpPr>
          <a:xfrm>
            <a:off x="381000" y="4572000"/>
            <a:ext cx="3810000" cy="381150"/>
            <a:chOff x="381000" y="4572000"/>
            <a:chExt cx="3810000" cy="381150"/>
          </a:xfrm>
        </p:grpSpPr>
        <p:sp>
          <p:nvSpPr>
            <p:cNvPr id="81" name="Google Shape;81;p14"/>
            <p:cNvSpPr/>
            <p:nvPr/>
          </p:nvSpPr>
          <p:spPr>
            <a:xfrm>
              <a:off x="381000" y="4572000"/>
              <a:ext cx="1143000" cy="38100"/>
            </a:xfrm>
            <a:prstGeom prst="roundRect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381000" y="4667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78909C"/>
                  </a:solidFill>
                  <a:latin typeface="Figtree"/>
                  <a:ea typeface="Figtree"/>
                  <a:cs typeface="Figtree"/>
                  <a:sym typeface="Figtree"/>
                </a:rPr>
                <a:t>ET AutoTech Hackathon 2026 | Team Nivāra</a:t>
              </a:r>
              <a:endParaRPr sz="1000">
                <a:solidFill>
                  <a:srgbClr val="78909C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E2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5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88" name="Google Shape;88;p15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2D2F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FFFFFF"/>
                  </a:solidFill>
                  <a:latin typeface="Figtree ExtraBold"/>
                  <a:ea typeface="Figtree ExtraBold"/>
                  <a:cs typeface="Figtree ExtraBold"/>
                  <a:sym typeface="Figtree ExtraBold"/>
                </a:rPr>
                <a:t>IMPACT OF PROPOSED SOLUTION</a:t>
              </a:r>
              <a:endParaRPr b="0" sz="2400">
                <a:solidFill>
                  <a:srgbClr val="FFFFFF"/>
                </a:solidFill>
                <a:latin typeface="Figtree ExtraBold"/>
                <a:ea typeface="Figtree ExtraBold"/>
                <a:cs typeface="Figtree ExtraBold"/>
                <a:sym typeface="Figtree ExtraBold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81000" y="952500"/>
            <a:ext cx="4095900" cy="3238500"/>
            <a:chOff x="381000" y="952500"/>
            <a:chExt cx="4095900" cy="3238500"/>
          </a:xfrm>
        </p:grpSpPr>
        <p:sp>
          <p:nvSpPr>
            <p:cNvPr id="91" name="Google Shape;91;p15"/>
            <p:cNvSpPr/>
            <p:nvPr/>
          </p:nvSpPr>
          <p:spPr>
            <a:xfrm>
              <a:off x="381000" y="952500"/>
              <a:ext cx="4095900" cy="3238500"/>
            </a:xfrm>
            <a:prstGeom prst="roundRect">
              <a:avLst>
                <a:gd fmla="val 3529" name="adj"/>
              </a:avLst>
            </a:prstGeom>
            <a:solidFill>
              <a:srgbClr val="2D2F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571500" y="1095375"/>
              <a:ext cx="3714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93C47D"/>
                  </a:solidFill>
                  <a:latin typeface="Figtree"/>
                  <a:ea typeface="Figtree"/>
                  <a:cs typeface="Figtree"/>
                  <a:sym typeface="Figtree"/>
                </a:rPr>
                <a:t>IMPACT (SAFETY OUTCOMES)</a:t>
              </a:r>
              <a:endParaRPr b="1" sz="1400">
                <a:solidFill>
                  <a:srgbClr val="93C47D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E0E0E0"/>
                  </a:solidFill>
                  <a:latin typeface="Figtree"/>
                  <a:ea typeface="Figtree"/>
                  <a:cs typeface="Figtree"/>
                  <a:sym typeface="Figtree"/>
                </a:rPr>
                <a:t>Drastic Reduction in Alert Fatigue</a:t>
              </a:r>
              <a:endParaRPr b="1" sz="1300">
                <a:solidFill>
                  <a:srgbClr val="E0E0E0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Suppresses up to 85% of false-positive auditory alerts during dense city driving.</a:t>
              </a:r>
              <a:endParaRPr b="0" sz="11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E0E0E0"/>
                  </a:solidFill>
                  <a:latin typeface="Figtree"/>
                  <a:ea typeface="Figtree"/>
                  <a:cs typeface="Figtree"/>
                  <a:sym typeface="Figtree"/>
                </a:rPr>
                <a:t>Maximized Feature Retention</a:t>
              </a:r>
              <a:endParaRPr b="1" sz="1300">
                <a:solidFill>
                  <a:srgbClr val="E0E0E0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Shifts driver response from frustration to trust, increasing ADAS retention from 15% to &gt;70%.</a:t>
              </a:r>
              <a:endParaRPr b="0" sz="11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E0E0E0"/>
                  </a:solidFill>
                  <a:latin typeface="Figtree"/>
                  <a:ea typeface="Figtree"/>
                  <a:cs typeface="Figtree"/>
                  <a:sym typeface="Figtree"/>
                </a:rPr>
                <a:t>Saved Lives</a:t>
              </a:r>
              <a:endParaRPr b="1" sz="1300">
                <a:solidFill>
                  <a:srgbClr val="E0E0E0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By keeping the system ON, Nivāra guarantees AEB remains active for actual emergencies.</a:t>
              </a:r>
              <a:endParaRPr b="0" sz="11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grpSp>
        <p:nvGrpSpPr>
          <p:cNvPr id="93" name="Google Shape;93;p15"/>
          <p:cNvGrpSpPr/>
          <p:nvPr/>
        </p:nvGrpSpPr>
        <p:grpSpPr>
          <a:xfrm>
            <a:off x="4667250" y="952500"/>
            <a:ext cx="4095900" cy="1524000"/>
            <a:chOff x="4667250" y="952500"/>
            <a:chExt cx="4095900" cy="1524000"/>
          </a:xfrm>
        </p:grpSpPr>
        <p:sp>
          <p:nvSpPr>
            <p:cNvPr id="94" name="Google Shape;94;p15"/>
            <p:cNvSpPr/>
            <p:nvPr/>
          </p:nvSpPr>
          <p:spPr>
            <a:xfrm>
              <a:off x="4667250" y="952500"/>
              <a:ext cx="4095900" cy="1524000"/>
            </a:xfrm>
            <a:prstGeom prst="roundRect">
              <a:avLst>
                <a:gd fmla="val 7500" name="adj"/>
              </a:avLst>
            </a:prstGeom>
            <a:solidFill>
              <a:srgbClr val="37474F"/>
            </a:solidFill>
            <a:ln cap="flat" cmpd="sng" w="19050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 txBox="1"/>
            <p:nvPr/>
          </p:nvSpPr>
          <p:spPr>
            <a:xfrm>
              <a:off x="4857750" y="1095375"/>
              <a:ext cx="3714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93C47D"/>
                  </a:solidFill>
                  <a:latin typeface="Figtree"/>
                  <a:ea typeface="Figtree"/>
                  <a:cs typeface="Figtree"/>
                  <a:sym typeface="Figtree"/>
                </a:rPr>
                <a:t>SCALABILITY</a:t>
              </a:r>
              <a:endParaRPr b="1" sz="1400">
                <a:solidFill>
                  <a:srgbClr val="93C47D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93C47D"/>
                  </a:solidFill>
                  <a:latin typeface="Figtree"/>
                  <a:ea typeface="Figtree"/>
                  <a:cs typeface="Figtree"/>
                  <a:sym typeface="Figtree"/>
                </a:rPr>
                <a:t>Zero Hardware Cost:</a:t>
              </a:r>
              <a:r>
                <a:rPr b="0" lang="en-GB" sz="1100">
                  <a:solidFill>
                    <a:srgbClr val="E0E0E0"/>
                  </a:solidFill>
                  <a:latin typeface="Figtree"/>
                  <a:ea typeface="Figtree"/>
                  <a:cs typeface="Figtree"/>
                  <a:sym typeface="Figtree"/>
                </a:rPr>
                <a:t> No new cameras/radar needed.</a:t>
              </a:r>
              <a:endParaRPr b="0" sz="1100">
                <a:solidFill>
                  <a:srgbClr val="E0E0E0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93C47D"/>
                  </a:solidFill>
                  <a:latin typeface="Figtree"/>
                  <a:ea typeface="Figtree"/>
                  <a:cs typeface="Figtree"/>
                  <a:sym typeface="Figtree"/>
                </a:rPr>
                <a:t>OTA Ready:</a:t>
              </a:r>
              <a:r>
                <a:rPr b="0" lang="en-GB" sz="1100">
                  <a:solidFill>
                    <a:srgbClr val="E0E0E0"/>
                  </a:solidFill>
                  <a:latin typeface="Figtree"/>
                  <a:ea typeface="Figtree"/>
                  <a:cs typeface="Figtree"/>
                  <a:sym typeface="Figtree"/>
                </a:rPr>
                <a:t> Global deployment via software updates.</a:t>
              </a:r>
              <a:endParaRPr b="0" sz="1100">
                <a:solidFill>
                  <a:srgbClr val="E0E0E0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93C47D"/>
                  </a:solidFill>
                  <a:latin typeface="Figtree"/>
                  <a:ea typeface="Figtree"/>
                  <a:cs typeface="Figtree"/>
                  <a:sym typeface="Figtree"/>
                </a:rPr>
                <a:t>Agnostic:</a:t>
              </a:r>
              <a:r>
                <a:rPr b="0" lang="en-GB" sz="1100">
                  <a:solidFill>
                    <a:srgbClr val="E0E0E0"/>
                  </a:solidFill>
                  <a:latin typeface="Figtree"/>
                  <a:ea typeface="Figtree"/>
                  <a:cs typeface="Figtree"/>
                  <a:sym typeface="Figtree"/>
                </a:rPr>
                <a:t> Compatible with AAOS &amp; OEM stacks.</a:t>
              </a:r>
              <a:endParaRPr b="0" sz="1100">
                <a:solidFill>
                  <a:srgbClr val="E0E0E0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grpSp>
        <p:nvGrpSpPr>
          <p:cNvPr id="96" name="Google Shape;96;p15"/>
          <p:cNvGrpSpPr/>
          <p:nvPr/>
        </p:nvGrpSpPr>
        <p:grpSpPr>
          <a:xfrm>
            <a:off x="4667250" y="2667000"/>
            <a:ext cx="4095900" cy="1524000"/>
            <a:chOff x="4667250" y="2667000"/>
            <a:chExt cx="4095900" cy="1524000"/>
          </a:xfrm>
        </p:grpSpPr>
        <p:sp>
          <p:nvSpPr>
            <p:cNvPr id="97" name="Google Shape;97;p15"/>
            <p:cNvSpPr/>
            <p:nvPr/>
          </p:nvSpPr>
          <p:spPr>
            <a:xfrm>
              <a:off x="4667250" y="2667000"/>
              <a:ext cx="4095900" cy="1524000"/>
            </a:xfrm>
            <a:prstGeom prst="roundRect">
              <a:avLst>
                <a:gd fmla="val 7500" name="adj"/>
              </a:avLst>
            </a:prstGeom>
            <a:solidFill>
              <a:srgbClr val="2632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4857750" y="2809875"/>
              <a:ext cx="3714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81C784"/>
                  </a:solidFill>
                  <a:latin typeface="Figtree"/>
                  <a:ea typeface="Figtree"/>
                  <a:cs typeface="Figtree"/>
                  <a:sym typeface="Figtree"/>
                </a:rPr>
                <a:t>FEASIBILITY</a:t>
              </a:r>
              <a:endParaRPr b="1" sz="1400">
                <a:solidFill>
                  <a:srgbClr val="81C784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81C784"/>
                  </a:solidFill>
                  <a:latin typeface="Figtree"/>
                  <a:ea typeface="Figtree"/>
                  <a:cs typeface="Figtree"/>
                  <a:sym typeface="Figtree"/>
                </a:rPr>
                <a:t>Edge-Optimized:</a:t>
              </a:r>
              <a:r>
                <a:rPr b="0" lang="en-GB" sz="1100">
                  <a:solidFill>
                    <a:srgbClr val="E0E0E0"/>
                  </a:solidFill>
                  <a:latin typeface="Figtree"/>
                  <a:ea typeface="Figtree"/>
                  <a:cs typeface="Figtree"/>
                  <a:sym typeface="Figtree"/>
                </a:rPr>
                <a:t> &lt;5ms processing on existing vehicle SoCs.</a:t>
              </a:r>
              <a:endParaRPr b="0" sz="1100">
                <a:solidFill>
                  <a:srgbClr val="E0E0E0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81C784"/>
                  </a:solidFill>
                  <a:latin typeface="Figtree"/>
                  <a:ea typeface="Figtree"/>
                  <a:cs typeface="Figtree"/>
                  <a:sym typeface="Figtree"/>
                </a:rPr>
                <a:t>Privacy-First:</a:t>
              </a:r>
              <a:r>
                <a:rPr b="0" lang="en-GB" sz="1100">
                  <a:solidFill>
                    <a:srgbClr val="E0E0E0"/>
                  </a:solidFill>
                  <a:latin typeface="Figtree"/>
                  <a:ea typeface="Figtree"/>
                  <a:cs typeface="Figtree"/>
                  <a:sym typeface="Figtree"/>
                </a:rPr>
                <a:t> Entirely on-device, zero cloud required.</a:t>
              </a:r>
              <a:endParaRPr b="0" sz="1100">
                <a:solidFill>
                  <a:srgbClr val="E0E0E0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grpSp>
        <p:nvGrpSpPr>
          <p:cNvPr id="99" name="Google Shape;99;p15"/>
          <p:cNvGrpSpPr/>
          <p:nvPr/>
        </p:nvGrpSpPr>
        <p:grpSpPr>
          <a:xfrm>
            <a:off x="381000" y="4572000"/>
            <a:ext cx="3810000" cy="381150"/>
            <a:chOff x="381000" y="4572000"/>
            <a:chExt cx="3810000" cy="381150"/>
          </a:xfrm>
        </p:grpSpPr>
        <p:sp>
          <p:nvSpPr>
            <p:cNvPr id="100" name="Google Shape;100;p15"/>
            <p:cNvSpPr/>
            <p:nvPr/>
          </p:nvSpPr>
          <p:spPr>
            <a:xfrm>
              <a:off x="381000" y="4572000"/>
              <a:ext cx="1143000" cy="38100"/>
            </a:xfrm>
            <a:prstGeom prst="roundRect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381000" y="4667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78909C"/>
                  </a:solidFill>
                  <a:latin typeface="Figtree"/>
                  <a:ea typeface="Figtree"/>
                  <a:cs typeface="Figtree"/>
                  <a:sym typeface="Figtree"/>
                </a:rPr>
                <a:t>ET AutoTech Hackathon 2026 | Team Nivāra</a:t>
              </a:r>
              <a:endParaRPr b="0" sz="1000">
                <a:solidFill>
                  <a:srgbClr val="78909C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6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07" name="Google Shape;107;p16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2D2F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FFFFFF"/>
                  </a:solidFill>
                  <a:latin typeface="Figtree ExtraBold"/>
                  <a:ea typeface="Figtree ExtraBold"/>
                  <a:cs typeface="Figtree ExtraBold"/>
                  <a:sym typeface="Figtree ExtraBold"/>
                </a:rPr>
                <a:t>PROPOSED TECH STACK &amp; ARCHITECTURE</a:t>
              </a:r>
              <a:endParaRPr b="0" sz="2400">
                <a:solidFill>
                  <a:srgbClr val="FFFFFF"/>
                </a:solidFill>
                <a:latin typeface="Figtree ExtraBold"/>
                <a:ea typeface="Figtree ExtraBold"/>
                <a:cs typeface="Figtree ExtraBold"/>
                <a:sym typeface="Figtree ExtraBold"/>
              </a:endParaRPr>
            </a:p>
          </p:txBody>
        </p:sp>
      </p:grpSp>
      <p:grpSp>
        <p:nvGrpSpPr>
          <p:cNvPr id="109" name="Google Shape;109;p16"/>
          <p:cNvGrpSpPr/>
          <p:nvPr/>
        </p:nvGrpSpPr>
        <p:grpSpPr>
          <a:xfrm>
            <a:off x="381000" y="952500"/>
            <a:ext cx="2667000" cy="3238500"/>
            <a:chOff x="381000" y="952500"/>
            <a:chExt cx="2667000" cy="3238500"/>
          </a:xfrm>
        </p:grpSpPr>
        <p:sp>
          <p:nvSpPr>
            <p:cNvPr id="110" name="Google Shape;110;p16"/>
            <p:cNvSpPr/>
            <p:nvPr/>
          </p:nvSpPr>
          <p:spPr>
            <a:xfrm>
              <a:off x="381000" y="95250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2D2F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571500" y="1178052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93C47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2400">
                <a:solidFill>
                  <a:srgbClr val="93C47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571500" y="1571625"/>
              <a:ext cx="2286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93C47D"/>
                  </a:solidFill>
                  <a:latin typeface="Figtree"/>
                  <a:ea typeface="Figtree"/>
                  <a:cs typeface="Figtree"/>
                  <a:sym typeface="Figtree"/>
                </a:rPr>
                <a:t>EDGE AI / BACKEND</a:t>
              </a:r>
              <a:endParaRPr b="1" sz="1400">
                <a:solidFill>
                  <a:srgbClr val="93C47D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E0E0E0"/>
                  </a:solidFill>
                  <a:latin typeface="Figtree"/>
                  <a:ea typeface="Figtree"/>
                  <a:cs typeface="Figtree"/>
                  <a:sym typeface="Figtree"/>
                </a:rPr>
                <a:t>High-performance processing for driver profiling.</a:t>
              </a:r>
              <a:endParaRPr b="0" sz="1100">
                <a:solidFill>
                  <a:srgbClr val="E0E0E0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-2921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B0BEC5"/>
                </a:buClr>
                <a:buSzPts val="1000"/>
                <a:buFont typeface="Figtree"/>
                <a:buChar char="●"/>
              </a:pPr>
              <a:r>
                <a:rPr b="0" lang="en-GB" sz="10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Python 3.11 &amp; FastAPI</a:t>
              </a:r>
              <a:endParaRPr b="0" sz="10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B0BEC5"/>
                </a:buClr>
                <a:buSzPts val="1000"/>
                <a:buFont typeface="Figtree"/>
                <a:buChar char="●"/>
              </a:pPr>
              <a:r>
                <a:rPr b="0" lang="en-GB" sz="10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XGBoost &amp; Pandas</a:t>
              </a:r>
              <a:endParaRPr b="0" sz="10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B0BEC5"/>
                </a:buClr>
                <a:buSzPts val="1000"/>
                <a:buFont typeface="Figtree"/>
                <a:buChar char="●"/>
              </a:pPr>
              <a:r>
                <a:rPr b="0" lang="en-GB" sz="10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Scikit-learn</a:t>
              </a:r>
              <a:endParaRPr b="0" sz="10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B0BEC5"/>
                </a:buClr>
                <a:buSzPts val="1000"/>
                <a:buFont typeface="Figtree"/>
                <a:buChar char="●"/>
              </a:pPr>
              <a:r>
                <a:rPr b="0" lang="en-GB" sz="10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Temporal Nuisance Filtering</a:t>
              </a:r>
              <a:endParaRPr b="0" sz="10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3238500" y="952500"/>
            <a:ext cx="2667000" cy="3238500"/>
            <a:chOff x="3238500" y="952500"/>
            <a:chExt cx="2667000" cy="3238500"/>
          </a:xfrm>
        </p:grpSpPr>
        <p:sp>
          <p:nvSpPr>
            <p:cNvPr id="114" name="Google Shape;114;p16"/>
            <p:cNvSpPr/>
            <p:nvPr/>
          </p:nvSpPr>
          <p:spPr>
            <a:xfrm>
              <a:off x="3238500" y="95250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2D2F31"/>
            </a:solidFill>
            <a:ln cap="flat" cmpd="sng" w="19050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3429000" y="1178052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93C47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sz="2400">
                <a:solidFill>
                  <a:srgbClr val="93C47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3429000" y="1571625"/>
              <a:ext cx="2286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93C47D"/>
                  </a:solidFill>
                  <a:latin typeface="Figtree"/>
                  <a:ea typeface="Figtree"/>
                  <a:cs typeface="Figtree"/>
                  <a:sym typeface="Figtree"/>
                </a:rPr>
                <a:t>HMI / FRONTEND</a:t>
              </a:r>
              <a:endParaRPr b="1" sz="1400">
                <a:solidFill>
                  <a:srgbClr val="93C47D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E0E0E0"/>
                  </a:solidFill>
                  <a:latin typeface="Figtree"/>
                  <a:ea typeface="Figtree"/>
                  <a:cs typeface="Figtree"/>
                  <a:sym typeface="Figtree"/>
                </a:rPr>
                <a:t>Fluid, ambient cluster UI with zero latency.</a:t>
              </a:r>
              <a:endParaRPr b="0" sz="1100">
                <a:solidFill>
                  <a:srgbClr val="E0E0E0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-2921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B0BEC5"/>
                </a:buClr>
                <a:buSzPts val="1000"/>
                <a:buFont typeface="Figtree"/>
                <a:buChar char="●"/>
              </a:pPr>
              <a:r>
                <a:rPr b="0" lang="en-GB" sz="10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ReactJS 18</a:t>
              </a:r>
              <a:endParaRPr b="0" sz="10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B0BEC5"/>
                </a:buClr>
                <a:buSzPts val="1000"/>
                <a:buFont typeface="Figtree"/>
                <a:buChar char="●"/>
              </a:pPr>
              <a:r>
                <a:rPr b="0" lang="en-GB" sz="10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Tailwind CSS</a:t>
              </a:r>
              <a:endParaRPr b="0" sz="10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B0BEC5"/>
                </a:buClr>
                <a:buSzPts val="1000"/>
                <a:buFont typeface="Figtree"/>
                <a:buChar char="●"/>
              </a:pPr>
              <a:r>
                <a:rPr b="0" lang="en-GB" sz="10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Framer Motion</a:t>
              </a:r>
              <a:endParaRPr b="0" sz="10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B0BEC5"/>
                </a:buClr>
                <a:buSzPts val="1000"/>
                <a:buFont typeface="Figtree"/>
                <a:buChar char="●"/>
              </a:pPr>
              <a:r>
                <a:rPr b="0" lang="en-GB" sz="10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Low-Latency Rendering</a:t>
              </a:r>
              <a:endParaRPr b="0" sz="10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6096000" y="952500"/>
            <a:ext cx="2667000" cy="3238500"/>
            <a:chOff x="6096000" y="952500"/>
            <a:chExt cx="2667000" cy="3238500"/>
          </a:xfrm>
        </p:grpSpPr>
        <p:sp>
          <p:nvSpPr>
            <p:cNvPr id="118" name="Google Shape;118;p16"/>
            <p:cNvSpPr/>
            <p:nvPr/>
          </p:nvSpPr>
          <p:spPr>
            <a:xfrm>
              <a:off x="6096000" y="95250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2D2F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6286500" y="1178052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93C47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sz="2400">
                <a:solidFill>
                  <a:srgbClr val="93C47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6286500" y="1571625"/>
              <a:ext cx="2286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93C47D"/>
                  </a:solidFill>
                  <a:latin typeface="Figtree"/>
                  <a:ea typeface="Figtree"/>
                  <a:cs typeface="Figtree"/>
                  <a:sym typeface="Figtree"/>
                </a:rPr>
                <a:t>DATA PIPELINE</a:t>
              </a:r>
              <a:endParaRPr b="1" sz="1400">
                <a:solidFill>
                  <a:srgbClr val="93C47D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E0E0E0"/>
                  </a:solidFill>
                  <a:latin typeface="Figtree"/>
                  <a:ea typeface="Figtree"/>
                  <a:cs typeface="Figtree"/>
                  <a:sym typeface="Figtree"/>
                </a:rPr>
                <a:t>Real-time telemetry streaming for instant response.</a:t>
              </a:r>
              <a:endParaRPr b="0" sz="1100">
                <a:solidFill>
                  <a:srgbClr val="E0E0E0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-2921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B0BEC5"/>
                </a:buClr>
                <a:buSzPts val="1000"/>
                <a:buFont typeface="Figtree"/>
                <a:buChar char="●"/>
              </a:pPr>
              <a:r>
                <a:rPr b="0" lang="en-GB" sz="10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WebSockets</a:t>
              </a:r>
              <a:endParaRPr b="0" sz="10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B0BEC5"/>
                </a:buClr>
                <a:buSzPts val="1000"/>
                <a:buFont typeface="Figtree"/>
                <a:buChar char="●"/>
              </a:pPr>
              <a:r>
                <a:rPr b="0" lang="en-GB" sz="10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&lt;10ms Streaming Latency</a:t>
              </a:r>
              <a:endParaRPr b="0" sz="10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B0BEC5"/>
                </a:buClr>
                <a:buSzPts val="1000"/>
                <a:buFont typeface="Figtree"/>
                <a:buChar char="●"/>
              </a:pPr>
              <a:r>
                <a:rPr b="0" lang="en-GB" sz="10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Vehicle CAN Bus Sync</a:t>
              </a:r>
              <a:endParaRPr b="0" sz="10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B0BEC5"/>
                </a:buClr>
                <a:buSzPts val="1000"/>
                <a:buFont typeface="Figtree"/>
                <a:buChar char="●"/>
              </a:pPr>
              <a:r>
                <a:rPr b="0" lang="en-GB" sz="10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Digital Cluster Bridge</a:t>
              </a:r>
              <a:endParaRPr b="0" sz="10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381000" y="4572000"/>
            <a:ext cx="3810000" cy="381150"/>
            <a:chOff x="381000" y="4572000"/>
            <a:chExt cx="3810000" cy="381150"/>
          </a:xfrm>
        </p:grpSpPr>
        <p:sp>
          <p:nvSpPr>
            <p:cNvPr id="122" name="Google Shape;122;p16"/>
            <p:cNvSpPr/>
            <p:nvPr/>
          </p:nvSpPr>
          <p:spPr>
            <a:xfrm>
              <a:off x="381000" y="4572000"/>
              <a:ext cx="1143000" cy="38100"/>
            </a:xfrm>
            <a:prstGeom prst="roundRect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381000" y="4667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78909C"/>
                  </a:solidFill>
                  <a:latin typeface="Figtree"/>
                  <a:ea typeface="Figtree"/>
                  <a:cs typeface="Figtree"/>
                  <a:sym typeface="Figtree"/>
                </a:rPr>
                <a:t>ET AutoTech Hackathon 2026 | Team Nivāra</a:t>
              </a:r>
              <a:endParaRPr b="0" sz="1000">
                <a:solidFill>
                  <a:srgbClr val="78909C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7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29" name="Google Shape;129;p17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2D2F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FFFFFF"/>
                  </a:solidFill>
                  <a:latin typeface="Figtree ExtraBold"/>
                  <a:ea typeface="Figtree ExtraBold"/>
                  <a:cs typeface="Figtree ExtraBold"/>
                  <a:sym typeface="Figtree ExtraBold"/>
                </a:rPr>
                <a:t>SYSTEM ARCHITECTURE</a:t>
              </a:r>
              <a:endParaRPr b="0" sz="2400">
                <a:solidFill>
                  <a:srgbClr val="FFFFFF"/>
                </a:solidFill>
                <a:latin typeface="Figtree ExtraBold"/>
                <a:ea typeface="Figtree ExtraBold"/>
                <a:cs typeface="Figtree ExtraBold"/>
                <a:sym typeface="Figtree ExtraBold"/>
              </a:endParaRPr>
            </a:p>
          </p:txBody>
        </p:sp>
      </p:grpSp>
      <p:grpSp>
        <p:nvGrpSpPr>
          <p:cNvPr id="131" name="Google Shape;131;p17"/>
          <p:cNvGrpSpPr/>
          <p:nvPr/>
        </p:nvGrpSpPr>
        <p:grpSpPr>
          <a:xfrm>
            <a:off x="381000" y="4572000"/>
            <a:ext cx="3810000" cy="381150"/>
            <a:chOff x="381000" y="4572000"/>
            <a:chExt cx="3810000" cy="381150"/>
          </a:xfrm>
        </p:grpSpPr>
        <p:sp>
          <p:nvSpPr>
            <p:cNvPr id="132" name="Google Shape;132;p17"/>
            <p:cNvSpPr/>
            <p:nvPr/>
          </p:nvSpPr>
          <p:spPr>
            <a:xfrm>
              <a:off x="381000" y="4572000"/>
              <a:ext cx="1143000" cy="38100"/>
            </a:xfrm>
            <a:prstGeom prst="roundRect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 txBox="1"/>
            <p:nvPr/>
          </p:nvSpPr>
          <p:spPr>
            <a:xfrm>
              <a:off x="381000" y="4667250"/>
              <a:ext cx="381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78909C"/>
                  </a:solidFill>
                  <a:latin typeface="Figtree"/>
                  <a:ea typeface="Figtree"/>
                  <a:cs typeface="Figtree"/>
                  <a:sym typeface="Figtree"/>
                </a:rPr>
                <a:t>ET AutoTech Hackathon 2026 | Team Nivāra</a:t>
              </a:r>
              <a:endParaRPr b="0" sz="1000">
                <a:solidFill>
                  <a:srgbClr val="78909C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pic>
        <p:nvPicPr>
          <p:cNvPr id="134" name="Google Shape;134;p17" title="Architectu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5100" y="762000"/>
            <a:ext cx="4073800" cy="375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8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41" name="Google Shape;141;p18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2D2F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FFFFFF"/>
                  </a:solidFill>
                  <a:latin typeface="Figtree ExtraBold"/>
                  <a:ea typeface="Figtree ExtraBold"/>
                  <a:cs typeface="Figtree ExtraBold"/>
                  <a:sym typeface="Figtree ExtraBold"/>
                </a:rPr>
                <a:t>WHY NIVĀRA?</a:t>
              </a:r>
              <a:endParaRPr b="0" sz="2400">
                <a:solidFill>
                  <a:srgbClr val="FFFFFF"/>
                </a:solidFill>
                <a:latin typeface="Figtree ExtraBold"/>
                <a:ea typeface="Figtree ExtraBold"/>
                <a:cs typeface="Figtree ExtraBold"/>
                <a:sym typeface="Figtree ExtraBold"/>
              </a:endParaRPr>
            </a:p>
          </p:txBody>
        </p:sp>
      </p:grpSp>
      <p:grpSp>
        <p:nvGrpSpPr>
          <p:cNvPr id="143" name="Google Shape;143;p18"/>
          <p:cNvGrpSpPr/>
          <p:nvPr/>
        </p:nvGrpSpPr>
        <p:grpSpPr>
          <a:xfrm>
            <a:off x="381000" y="1047750"/>
            <a:ext cx="4000500" cy="3238500"/>
            <a:chOff x="381000" y="1047750"/>
            <a:chExt cx="4000500" cy="3238500"/>
          </a:xfrm>
        </p:grpSpPr>
        <p:sp>
          <p:nvSpPr>
            <p:cNvPr id="144" name="Google Shape;144;p18"/>
            <p:cNvSpPr/>
            <p:nvPr/>
          </p:nvSpPr>
          <p:spPr>
            <a:xfrm>
              <a:off x="381000" y="1047750"/>
              <a:ext cx="4000500" cy="3238500"/>
            </a:xfrm>
            <a:prstGeom prst="roundRect">
              <a:avLst>
                <a:gd fmla="val 3529" name="adj"/>
              </a:avLst>
            </a:prstGeom>
            <a:solidFill>
              <a:srgbClr val="2D2F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 txBox="1"/>
            <p:nvPr/>
          </p:nvSpPr>
          <p:spPr>
            <a:xfrm>
              <a:off x="571500" y="1273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93C47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endParaRPr sz="2400">
                <a:solidFill>
                  <a:srgbClr val="93C47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571500" y="1666875"/>
              <a:ext cx="3619500" cy="24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93C47D"/>
                  </a:solidFill>
                  <a:latin typeface="Figtree"/>
                  <a:ea typeface="Figtree"/>
                  <a:cs typeface="Figtree"/>
                  <a:sym typeface="Figtree"/>
                </a:rPr>
                <a:t>THE PROBLEM</a:t>
              </a:r>
              <a:endParaRPr b="1" sz="1600">
                <a:solidFill>
                  <a:srgbClr val="93C47D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E0E0E0"/>
                  </a:solidFill>
                  <a:latin typeface="Figtree"/>
                  <a:ea typeface="Figtree"/>
                  <a:cs typeface="Figtree"/>
                  <a:sym typeface="Figtree"/>
                </a:rPr>
                <a:t>Traditional tech-first solutions build complex models for detection, but ignore the human element.</a:t>
              </a:r>
              <a:endParaRPr b="0" sz="1300">
                <a:solidFill>
                  <a:srgbClr val="E0E0E0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A perfect sensor is useless if the driver unplugs it because it gives them a headache.</a:t>
              </a:r>
              <a:endParaRPr b="0" sz="13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grpSp>
        <p:nvGrpSpPr>
          <p:cNvPr id="147" name="Google Shape;147;p18"/>
          <p:cNvGrpSpPr/>
          <p:nvPr/>
        </p:nvGrpSpPr>
        <p:grpSpPr>
          <a:xfrm>
            <a:off x="4762500" y="1047750"/>
            <a:ext cx="4000500" cy="3238500"/>
            <a:chOff x="4762500" y="1047750"/>
            <a:chExt cx="4000500" cy="3238500"/>
          </a:xfrm>
        </p:grpSpPr>
        <p:sp>
          <p:nvSpPr>
            <p:cNvPr id="148" name="Google Shape;148;p18"/>
            <p:cNvSpPr/>
            <p:nvPr/>
          </p:nvSpPr>
          <p:spPr>
            <a:xfrm>
              <a:off x="4762500" y="1047750"/>
              <a:ext cx="4000500" cy="3238500"/>
            </a:xfrm>
            <a:prstGeom prst="roundRect">
              <a:avLst>
                <a:gd fmla="val 3529" name="adj"/>
              </a:avLst>
            </a:prstGeom>
            <a:solidFill>
              <a:srgbClr val="2D2F31"/>
            </a:solidFill>
            <a:ln cap="flat" cmpd="sng" w="19050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4953000" y="1273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93C47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</a:t>
              </a:r>
              <a:endParaRPr sz="2400">
                <a:solidFill>
                  <a:srgbClr val="93C47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4953000" y="1666875"/>
              <a:ext cx="3619500" cy="24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93C47D"/>
                  </a:solidFill>
                  <a:latin typeface="Figtree"/>
                  <a:ea typeface="Figtree"/>
                  <a:cs typeface="Figtree"/>
                  <a:sym typeface="Figtree"/>
                </a:rPr>
                <a:t>THE SOLUTION</a:t>
              </a:r>
              <a:endParaRPr b="1" sz="1600">
                <a:solidFill>
                  <a:srgbClr val="93C47D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E0E0E0"/>
                  </a:solidFill>
                  <a:latin typeface="Figtree"/>
                  <a:ea typeface="Figtree"/>
                  <a:cs typeface="Figtree"/>
                  <a:sym typeface="Figtree"/>
                </a:rPr>
                <a:t>Nivāra tackles the human behavioral bottleneck by aligning with Indian regulations (GSR 188/AIS-184).</a:t>
              </a:r>
              <a:endParaRPr b="0" sz="1300">
                <a:solidFill>
                  <a:srgbClr val="E0E0E0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We offer OEMs a localized solution to consumer pushback, making cars culturally adaptable to India.</a:t>
              </a:r>
              <a:endParaRPr b="0" sz="13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grpSp>
        <p:nvGrpSpPr>
          <p:cNvPr id="151" name="Google Shape;151;p18"/>
          <p:cNvGrpSpPr/>
          <p:nvPr/>
        </p:nvGrpSpPr>
        <p:grpSpPr>
          <a:xfrm>
            <a:off x="381000" y="4572000"/>
            <a:ext cx="3810000" cy="381150"/>
            <a:chOff x="381000" y="4572000"/>
            <a:chExt cx="3810000" cy="381150"/>
          </a:xfrm>
        </p:grpSpPr>
        <p:sp>
          <p:nvSpPr>
            <p:cNvPr id="152" name="Google Shape;152;p18"/>
            <p:cNvSpPr/>
            <p:nvPr/>
          </p:nvSpPr>
          <p:spPr>
            <a:xfrm>
              <a:off x="381000" y="4572000"/>
              <a:ext cx="1143000" cy="38100"/>
            </a:xfrm>
            <a:prstGeom prst="roundRect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381000" y="4667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78909C"/>
                  </a:solidFill>
                  <a:latin typeface="Figtree"/>
                  <a:ea typeface="Figtree"/>
                  <a:cs typeface="Figtree"/>
                  <a:sym typeface="Figtree"/>
                </a:rPr>
                <a:t>ET AutoTech Hackathon 2026 | Team Nivāra</a:t>
              </a:r>
              <a:endParaRPr sz="1000">
                <a:solidFill>
                  <a:srgbClr val="78909C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9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59" name="Google Shape;159;p19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2D2F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FFFFFF"/>
                  </a:solidFill>
                  <a:latin typeface="Figtree ExtraBold"/>
                  <a:ea typeface="Figtree ExtraBold"/>
                  <a:cs typeface="Figtree ExtraBold"/>
                  <a:sym typeface="Figtree ExtraBold"/>
                </a:rPr>
                <a:t>ADDITIONAL INFORMATION</a:t>
              </a:r>
              <a:endParaRPr b="0" sz="2400">
                <a:solidFill>
                  <a:srgbClr val="FFFFFF"/>
                </a:solidFill>
                <a:latin typeface="Figtree ExtraBold"/>
                <a:ea typeface="Figtree ExtraBold"/>
                <a:cs typeface="Figtree ExtraBold"/>
                <a:sym typeface="Figtree ExtraBold"/>
              </a:endParaRPr>
            </a:p>
          </p:txBody>
        </p:sp>
      </p:grpSp>
      <p:grpSp>
        <p:nvGrpSpPr>
          <p:cNvPr id="161" name="Google Shape;161;p19"/>
          <p:cNvGrpSpPr/>
          <p:nvPr/>
        </p:nvGrpSpPr>
        <p:grpSpPr>
          <a:xfrm>
            <a:off x="381000" y="1047750"/>
            <a:ext cx="8382000" cy="3238500"/>
            <a:chOff x="381000" y="1047750"/>
            <a:chExt cx="8382000" cy="3238500"/>
          </a:xfrm>
        </p:grpSpPr>
        <p:sp>
          <p:nvSpPr>
            <p:cNvPr id="162" name="Google Shape;162;p19"/>
            <p:cNvSpPr/>
            <p:nvPr/>
          </p:nvSpPr>
          <p:spPr>
            <a:xfrm>
              <a:off x="381000" y="1047750"/>
              <a:ext cx="8382000" cy="3238500"/>
            </a:xfrm>
            <a:prstGeom prst="roundRect">
              <a:avLst>
                <a:gd fmla="val 3529" name="adj"/>
              </a:avLst>
            </a:prstGeom>
            <a:solidFill>
              <a:srgbClr val="37393B"/>
            </a:solidFill>
            <a:ln cap="flat" cmpd="sng" w="19050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666750" y="137439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93C47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info</a:t>
              </a:r>
              <a:endParaRPr sz="2380">
                <a:solidFill>
                  <a:srgbClr val="93C47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4" name="Google Shape;164;p19"/>
            <p:cNvSpPr txBox="1"/>
            <p:nvPr/>
          </p:nvSpPr>
          <p:spPr>
            <a:xfrm>
              <a:off x="1238250" y="1238250"/>
              <a:ext cx="7239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93C47D"/>
                  </a:solidFill>
                  <a:latin typeface="Figtree"/>
                  <a:ea typeface="Figtree"/>
                  <a:cs typeface="Figtree"/>
                  <a:sym typeface="Figtree"/>
                </a:rPr>
                <a:t>UX PHILOSOPHY: EXPLAINABILITY BY SUBTRACTION</a:t>
              </a:r>
              <a:endParaRPr b="1" sz="1800">
                <a:solidFill>
                  <a:srgbClr val="93C47D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E0E0E0"/>
                  </a:solidFill>
                  <a:latin typeface="Figtree"/>
                  <a:ea typeface="Figtree"/>
                  <a:cs typeface="Figtree"/>
                  <a:sym typeface="Figtree"/>
                </a:rPr>
                <a:t>Nivāra operates silently in the background, prioritizing driver trust without demanding cognitive attention.</a:t>
              </a:r>
              <a:endParaRPr b="0" sz="1400">
                <a:solidFill>
                  <a:srgbClr val="E0E0E0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B0BEC5"/>
                </a:buClr>
                <a:buSzPts val="1300"/>
                <a:buFont typeface="Figtree"/>
                <a:buChar char="●"/>
              </a:pPr>
              <a:r>
                <a:rPr b="0" lang="en-GB" sz="13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Utilizes a unique "Explainability by Subtraction" UX framework.</a:t>
              </a:r>
              <a:endParaRPr b="0" sz="13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B0BEC5"/>
                </a:buClr>
                <a:buSzPts val="1300"/>
                <a:buFont typeface="Figtree"/>
                <a:buChar char="●"/>
              </a:pPr>
              <a:r>
                <a:rPr b="0" lang="en-GB" sz="13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Avoids distracting gamification or intrusive driving scores.</a:t>
              </a:r>
              <a:endParaRPr b="0" sz="13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B0BEC5"/>
                </a:buClr>
                <a:buSzPts val="1300"/>
                <a:buFont typeface="Figtree"/>
                <a:buChar char="●"/>
              </a:pPr>
              <a:r>
                <a:rPr b="0" lang="en-GB" sz="13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Provides a simple end-of-trip summary (e.g., "Silenced 12 nuisance alerts today").</a:t>
              </a:r>
              <a:endParaRPr b="0" sz="13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B0BEC5"/>
                </a:buClr>
                <a:buSzPts val="1300"/>
                <a:buFont typeface="Figtree"/>
                <a:buChar char="●"/>
              </a:pPr>
              <a:r>
                <a:rPr b="0" lang="en-GB" sz="1300">
                  <a:solidFill>
                    <a:srgbClr val="B0BEC5"/>
                  </a:solidFill>
                  <a:latin typeface="Figtree"/>
                  <a:ea typeface="Figtree"/>
                  <a:cs typeface="Figtree"/>
                  <a:sym typeface="Figtree"/>
                </a:rPr>
                <a:t>Silently reinforces positive behavior through non-intrusive feedback.</a:t>
              </a:r>
              <a:endParaRPr b="0" sz="1300">
                <a:solidFill>
                  <a:srgbClr val="B0BEC5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grpSp>
        <p:nvGrpSpPr>
          <p:cNvPr id="165" name="Google Shape;165;p19"/>
          <p:cNvGrpSpPr/>
          <p:nvPr/>
        </p:nvGrpSpPr>
        <p:grpSpPr>
          <a:xfrm>
            <a:off x="381000" y="4572000"/>
            <a:ext cx="3810000" cy="381150"/>
            <a:chOff x="381000" y="4572000"/>
            <a:chExt cx="3810000" cy="381150"/>
          </a:xfrm>
        </p:grpSpPr>
        <p:sp>
          <p:nvSpPr>
            <p:cNvPr id="166" name="Google Shape;166;p19"/>
            <p:cNvSpPr/>
            <p:nvPr/>
          </p:nvSpPr>
          <p:spPr>
            <a:xfrm>
              <a:off x="381000" y="4572000"/>
              <a:ext cx="1143000" cy="38100"/>
            </a:xfrm>
            <a:prstGeom prst="roundRect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9"/>
            <p:cNvSpPr txBox="1"/>
            <p:nvPr/>
          </p:nvSpPr>
          <p:spPr>
            <a:xfrm>
              <a:off x="381000" y="4667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78909C"/>
                  </a:solidFill>
                  <a:latin typeface="Figtree"/>
                  <a:ea typeface="Figtree"/>
                  <a:cs typeface="Figtree"/>
                  <a:sym typeface="Figtree"/>
                </a:rPr>
                <a:t>ET AutoTech Hackathon 2026 | Team Nivāra</a:t>
              </a:r>
              <a:endParaRPr b="0" sz="1000">
                <a:solidFill>
                  <a:srgbClr val="78909C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20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73" name="Google Shape;173;p2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2D2F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FFFFFF"/>
                  </a:solidFill>
                  <a:latin typeface="Figtree ExtraBold"/>
                  <a:ea typeface="Figtree ExtraBold"/>
                  <a:cs typeface="Figtree ExtraBold"/>
                  <a:sym typeface="Figtree ExtraBold"/>
                </a:rPr>
                <a:t>THANK YOU</a:t>
              </a:r>
              <a:endParaRPr b="0" sz="2400">
                <a:solidFill>
                  <a:srgbClr val="FFFFFF"/>
                </a:solidFill>
                <a:latin typeface="Figtree ExtraBold"/>
                <a:ea typeface="Figtree ExtraBold"/>
                <a:cs typeface="Figtree ExtraBold"/>
                <a:sym typeface="Figtree ExtraBold"/>
              </a:endParaRPr>
            </a:p>
          </p:txBody>
        </p:sp>
      </p:grpSp>
      <p:grpSp>
        <p:nvGrpSpPr>
          <p:cNvPr id="175" name="Google Shape;175;p20"/>
          <p:cNvGrpSpPr/>
          <p:nvPr/>
        </p:nvGrpSpPr>
        <p:grpSpPr>
          <a:xfrm>
            <a:off x="381000" y="1143000"/>
            <a:ext cx="8382000" cy="2857500"/>
            <a:chOff x="381000" y="1143000"/>
            <a:chExt cx="8382000" cy="2857500"/>
          </a:xfrm>
        </p:grpSpPr>
        <p:pic>
          <p:nvPicPr>
            <p:cNvPr descr="A high-quality, professional abstract background with smooth green gradients and subtle geometric patterns, symbolizing innovation and connectivity in the automotive tech industry." id="176" name="Google Shape;176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43250" y="1143000"/>
              <a:ext cx="2857500" cy="28575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77" name="Google Shape;177;p20"/>
            <p:cNvSpPr txBox="1"/>
            <p:nvPr/>
          </p:nvSpPr>
          <p:spPr>
            <a:xfrm>
              <a:off x="381000" y="1524000"/>
              <a:ext cx="8382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4800">
                  <a:solidFill>
                    <a:srgbClr val="93C47D"/>
                  </a:solidFill>
                  <a:latin typeface="Figtree ExtraBold"/>
                  <a:ea typeface="Figtree ExtraBold"/>
                  <a:cs typeface="Figtree ExtraBold"/>
                  <a:sym typeface="Figtree ExtraBold"/>
                </a:rPr>
                <a:t>Let's drive the future together.</a:t>
              </a:r>
              <a:endParaRPr b="0" sz="4800">
                <a:solidFill>
                  <a:srgbClr val="93C47D"/>
                </a:solidFill>
                <a:latin typeface="Figtree ExtraBold"/>
                <a:ea typeface="Figtree ExtraBold"/>
                <a:cs typeface="Figtree ExtraBold"/>
                <a:sym typeface="Figtree ExtraBold"/>
              </a:endParaRPr>
            </a:p>
          </p:txBody>
        </p:sp>
      </p:grpSp>
      <p:grpSp>
        <p:nvGrpSpPr>
          <p:cNvPr id="178" name="Google Shape;178;p20"/>
          <p:cNvGrpSpPr/>
          <p:nvPr/>
        </p:nvGrpSpPr>
        <p:grpSpPr>
          <a:xfrm>
            <a:off x="381000" y="4572000"/>
            <a:ext cx="3810000" cy="381150"/>
            <a:chOff x="381000" y="4572000"/>
            <a:chExt cx="3810000" cy="381150"/>
          </a:xfrm>
        </p:grpSpPr>
        <p:sp>
          <p:nvSpPr>
            <p:cNvPr id="179" name="Google Shape;179;p20"/>
            <p:cNvSpPr/>
            <p:nvPr/>
          </p:nvSpPr>
          <p:spPr>
            <a:xfrm>
              <a:off x="381000" y="4572000"/>
              <a:ext cx="1143000" cy="38100"/>
            </a:xfrm>
            <a:prstGeom prst="roundRect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381000" y="4667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78909C"/>
                  </a:solidFill>
                  <a:latin typeface="Figtree"/>
                  <a:ea typeface="Figtree"/>
                  <a:cs typeface="Figtree"/>
                  <a:sym typeface="Figtree"/>
                </a:rPr>
                <a:t>ET AutoTech Hackathon 2026 | Team Nivāra</a:t>
              </a:r>
              <a:endParaRPr b="0" sz="1000">
                <a:solidFill>
                  <a:srgbClr val="78909C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